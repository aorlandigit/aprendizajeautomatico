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1" r:id="rId6"/>
    <p:sldId id="260" r:id="rId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30" d="100"/>
          <a:sy n="130" d="100"/>
        </p:scale>
        <p:origin x="144" y="2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09251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jp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8.jp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>
              <a:alpha val="55000"/>
            </a:srgbClr>
          </a:solidFill>
          <a:ln/>
        </p:spPr>
        <p:txBody>
          <a:bodyPr/>
          <a:lstStyle/>
          <a:p>
            <a:endParaRPr lang="es-AR" noProof="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7680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s-AR" sz="4400" b="1" noProof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Árbol de Decisión</a:t>
            </a:r>
            <a:endParaRPr lang="es-AR" sz="4400" noProof="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s-AR" sz="4400" b="1" noProof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vs SVM</a:t>
            </a:r>
            <a:endParaRPr lang="es-AR" sz="4400" noProof="0" dirty="0"/>
          </a:p>
        </p:txBody>
      </p:sp>
      <p:sp>
        <p:nvSpPr>
          <p:cNvPr id="4" name="Text 2"/>
          <p:cNvSpPr/>
          <p:nvPr/>
        </p:nvSpPr>
        <p:spPr>
          <a:xfrm>
            <a:off x="731520" y="301752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s-AR" sz="2000" noProof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Comparación Técnica de Modelos</a:t>
            </a:r>
            <a:endParaRPr lang="es-AR" sz="2000" noProof="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s-AR" sz="2000" noProof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Aprendizaje Automático</a:t>
            </a:r>
            <a:endParaRPr lang="es-AR" sz="2000" noProof="0" dirty="0"/>
          </a:p>
        </p:txBody>
      </p:sp>
      <p:sp>
        <p:nvSpPr>
          <p:cNvPr id="5" name="Shape 3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1B365D">
              <a:alpha val="60000"/>
            </a:srgbClr>
          </a:solidFill>
          <a:ln/>
        </p:spPr>
        <p:txBody>
          <a:bodyPr/>
          <a:lstStyle/>
          <a:p>
            <a:endParaRPr lang="es-AR" noProof="0" dirty="0"/>
          </a:p>
        </p:txBody>
      </p:sp>
      <p:sp>
        <p:nvSpPr>
          <p:cNvPr id="6" name="Text 4"/>
          <p:cNvSpPr/>
          <p:nvPr/>
        </p:nvSpPr>
        <p:spPr>
          <a:xfrm>
            <a:off x="731520" y="4572000"/>
            <a:ext cx="768096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AR" sz="1400" noProof="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Mayo 2026</a:t>
            </a:r>
            <a:endParaRPr lang="es-AR" sz="1400" noProof="0" dirty="0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4FD221AF-ABC4-2C80-C27D-D749BCE8F9C4}"/>
              </a:ext>
            </a:extLst>
          </p:cNvPr>
          <p:cNvSpPr txBox="1"/>
          <p:nvPr/>
        </p:nvSpPr>
        <p:spPr>
          <a:xfrm>
            <a:off x="3576484" y="4866501"/>
            <a:ext cx="55675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AR" sz="1200" dirty="0">
                <a:solidFill>
                  <a:schemeClr val="bg1"/>
                </a:solidFill>
              </a:rPr>
              <a:t>Alexandro Orlandi / Aprendizaje Automático / Mayo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365D"/>
          </a:solidFill>
          <a:ln/>
        </p:spPr>
        <p:txBody>
          <a:bodyPr/>
          <a:lstStyle/>
          <a:p>
            <a:endParaRPr lang="es-AR" noProof="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286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13716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AR" sz="3200" b="1" noProof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Árbol de Decisión</a:t>
            </a:r>
            <a:endParaRPr lang="es-AR" sz="3200" noProof="0" dirty="0"/>
          </a:p>
        </p:txBody>
      </p:sp>
      <p:sp>
        <p:nvSpPr>
          <p:cNvPr id="5" name="Text 2"/>
          <p:cNvSpPr/>
          <p:nvPr/>
        </p:nvSpPr>
        <p:spPr>
          <a:xfrm>
            <a:off x="548640" y="11887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AR" sz="1600" b="1" noProof="0" dirty="0">
                <a:solidFill>
                  <a:srgbClr val="1B365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Cómo Funciona</a:t>
            </a:r>
            <a:endParaRPr lang="es-AR" sz="1600" noProof="0" dirty="0"/>
          </a:p>
        </p:txBody>
      </p:sp>
      <p:sp>
        <p:nvSpPr>
          <p:cNvPr id="6" name="Text 3"/>
          <p:cNvSpPr/>
          <p:nvPr/>
        </p:nvSpPr>
        <p:spPr>
          <a:xfrm>
            <a:off x="548640" y="1600200"/>
            <a:ext cx="3840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s-AR" sz="120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 el espacio de datos en ramas en función de decisiones sucesivas que pueden resultar verdaderas o falsas respecto a alguna de las características. De esta forma surge la forma característica que se asemeja a las raíces de un árbol.</a:t>
            </a:r>
            <a:endParaRPr lang="es-AR" sz="1200" noProof="0" dirty="0"/>
          </a:p>
          <a:p>
            <a:pPr marL="0" indent="0">
              <a:spcAft>
                <a:spcPts val="400"/>
              </a:spcAft>
              <a:buNone/>
            </a:pPr>
            <a:r>
              <a:rPr lang="es-AR" sz="1200" noProof="0" dirty="0"/>
              <a:t>Cuanto más profundo es el árbol más complejas son las reglas de decisión.</a:t>
            </a:r>
          </a:p>
        </p:txBody>
      </p:sp>
      <p:sp>
        <p:nvSpPr>
          <p:cNvPr id="7" name="Shape 4"/>
          <p:cNvSpPr/>
          <p:nvPr/>
        </p:nvSpPr>
        <p:spPr>
          <a:xfrm>
            <a:off x="548640" y="2971800"/>
            <a:ext cx="3840480" cy="1541206"/>
          </a:xfrm>
          <a:prstGeom prst="rect">
            <a:avLst/>
          </a:prstGeom>
          <a:solidFill>
            <a:srgbClr val="E8F0FE"/>
          </a:solidFill>
          <a:ln/>
        </p:spPr>
        <p:txBody>
          <a:bodyPr/>
          <a:lstStyle/>
          <a:p>
            <a:endParaRPr lang="es-AR" noProof="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063240"/>
            <a:ext cx="274320" cy="2743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97280" y="30632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AR" sz="1300" b="1" noProof="0" dirty="0" err="1">
                <a:solidFill>
                  <a:srgbClr val="1B365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Hiperparámetros</a:t>
            </a:r>
            <a:r>
              <a:rPr lang="es-AR" sz="1300" b="1" noProof="0" dirty="0">
                <a:solidFill>
                  <a:srgbClr val="1B365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Clave</a:t>
            </a:r>
            <a:endParaRPr lang="es-AR" sz="1300" noProof="0" dirty="0"/>
          </a:p>
        </p:txBody>
      </p:sp>
      <p:sp>
        <p:nvSpPr>
          <p:cNvPr id="10" name="Text 6"/>
          <p:cNvSpPr/>
          <p:nvPr/>
        </p:nvSpPr>
        <p:spPr>
          <a:xfrm>
            <a:off x="731520" y="338328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s-AR" sz="1000" b="1" noProof="0" dirty="0" err="1">
                <a:solidFill>
                  <a:srgbClr val="4682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max_depth</a:t>
            </a:r>
            <a:endParaRPr lang="es-AR" sz="1000" noProof="0" dirty="0"/>
          </a:p>
          <a:p>
            <a:pPr marL="0" indent="0">
              <a:spcAft>
                <a:spcPts val="200"/>
              </a:spcAft>
              <a:buNone/>
            </a:pPr>
            <a:r>
              <a:rPr lang="es-AR" sz="100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Profundidad máxima del árbol</a:t>
            </a:r>
            <a:endParaRPr lang="es-AR" sz="1000" noProof="0" dirty="0"/>
          </a:p>
          <a:p>
            <a:pPr marL="0" indent="0">
              <a:spcAft>
                <a:spcPts val="200"/>
              </a:spcAft>
              <a:buNone/>
            </a:pPr>
            <a:r>
              <a:rPr lang="es-AR" sz="1000" b="1" noProof="0" dirty="0" err="1">
                <a:solidFill>
                  <a:srgbClr val="4682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min_samples_split</a:t>
            </a:r>
            <a:endParaRPr lang="es-AR" sz="1000" noProof="0" dirty="0"/>
          </a:p>
          <a:p>
            <a:pPr marL="0" indent="0">
              <a:spcAft>
                <a:spcPts val="200"/>
              </a:spcAft>
              <a:buNone/>
            </a:pPr>
            <a:r>
              <a:rPr lang="es-AR" sz="100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Mínimo de muestras para dividir un nodo</a:t>
            </a:r>
            <a:endParaRPr lang="es-AR" sz="1000" noProof="0" dirty="0"/>
          </a:p>
        </p:txBody>
      </p:sp>
      <p:pic>
        <p:nvPicPr>
          <p:cNvPr id="11" name="Image 2" descr="/agent/turn1/workspace/images/abstract-illustration-of-a-decision-tree-branching_2026-05-13T21-08-29_image_DAS_0.jpg"/>
          <p:cNvPicPr>
            <a:picLocks noChangeAspect="1"/>
          </p:cNvPicPr>
          <p:nvPr/>
        </p:nvPicPr>
        <p:blipFill>
          <a:blip r:embed="rId5"/>
          <a:srcRect t="14286" b="14286"/>
          <a:stretch/>
        </p:blipFill>
        <p:spPr>
          <a:xfrm>
            <a:off x="4754880" y="1137102"/>
            <a:ext cx="3840480" cy="1828800"/>
          </a:xfrm>
          <a:prstGeom prst="rect">
            <a:avLst/>
          </a:prstGeom>
        </p:spPr>
      </p:pic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54880" y="3148782"/>
            <a:ext cx="228600" cy="22860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5074920" y="314878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AR" sz="1300" b="1" noProof="0" dirty="0">
                <a:solidFill>
                  <a:srgbClr val="2E7D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Ventajas</a:t>
            </a:r>
            <a:endParaRPr lang="es-AR" sz="1300" noProof="0" dirty="0"/>
          </a:p>
        </p:txBody>
      </p:sp>
      <p:sp>
        <p:nvSpPr>
          <p:cNvPr id="14" name="Text 8"/>
          <p:cNvSpPr/>
          <p:nvPr/>
        </p:nvSpPr>
        <p:spPr>
          <a:xfrm>
            <a:off x="4754880" y="3423102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s-AR" sz="100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Sencillos de interpretar</a:t>
            </a:r>
            <a:endParaRPr lang="es-AR" sz="1000" noProof="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s-AR" sz="100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Visualizable</a:t>
            </a:r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s-AR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Maneja tanto variables categóricas como numéricas</a:t>
            </a:r>
            <a:endParaRPr lang="es-AR" sz="1000" noProof="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54880" y="4021886"/>
            <a:ext cx="228600" cy="22860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5074920" y="4021886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AR" sz="1300" b="1" noProof="0" dirty="0">
                <a:solidFill>
                  <a:srgbClr val="C628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Desventajas</a:t>
            </a:r>
            <a:endParaRPr lang="es-AR" sz="1300" noProof="0" dirty="0"/>
          </a:p>
        </p:txBody>
      </p:sp>
      <p:sp>
        <p:nvSpPr>
          <p:cNvPr id="17" name="Text 10"/>
          <p:cNvSpPr/>
          <p:nvPr/>
        </p:nvSpPr>
        <p:spPr>
          <a:xfrm>
            <a:off x="4754880" y="4296206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s-AR" sz="100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Propenso al sobreajuste</a:t>
            </a:r>
            <a:endParaRPr lang="es-AR" sz="1000" noProof="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s-AR" sz="100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Inestable ante cambios en los datos</a:t>
            </a:r>
            <a:endParaRPr lang="es-AR" sz="1000" noProof="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s-AR" sz="100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Susceptibles a sesgos debido a clases dominantes</a:t>
            </a:r>
            <a:endParaRPr lang="es-AR" sz="1000" noProof="0" dirty="0"/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4F44E502-CEFC-A4DA-02F4-7C94AA515779}"/>
              </a:ext>
            </a:extLst>
          </p:cNvPr>
          <p:cNvSpPr txBox="1"/>
          <p:nvPr/>
        </p:nvSpPr>
        <p:spPr>
          <a:xfrm>
            <a:off x="3576484" y="4866501"/>
            <a:ext cx="55675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AR" sz="1200" dirty="0"/>
              <a:t>Alexandro Orlandi / Aprendizaje Automático / Mayo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365D"/>
          </a:solidFill>
          <a:ln/>
        </p:spPr>
        <p:txBody>
          <a:bodyPr/>
          <a:lstStyle/>
          <a:p>
            <a:endParaRPr lang="es-AR" noProof="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286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13716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AR" sz="3200" b="1" noProof="0" dirty="0" err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Support</a:t>
            </a:r>
            <a:r>
              <a:rPr lang="es-AR" sz="3200" b="1" noProof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Vector Machine (SVM)</a:t>
            </a:r>
            <a:endParaRPr lang="es-AR" sz="3200" noProof="0" dirty="0"/>
          </a:p>
        </p:txBody>
      </p:sp>
      <p:sp>
        <p:nvSpPr>
          <p:cNvPr id="5" name="Text 2"/>
          <p:cNvSpPr/>
          <p:nvPr/>
        </p:nvSpPr>
        <p:spPr>
          <a:xfrm>
            <a:off x="548640" y="11887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AR" sz="1600" b="1" noProof="0" dirty="0">
                <a:solidFill>
                  <a:srgbClr val="1B365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Cómo Funciona</a:t>
            </a:r>
            <a:endParaRPr lang="es-AR" sz="1600" noProof="0" dirty="0"/>
          </a:p>
        </p:txBody>
      </p:sp>
      <p:sp>
        <p:nvSpPr>
          <p:cNvPr id="6" name="Text 3"/>
          <p:cNvSpPr/>
          <p:nvPr/>
        </p:nvSpPr>
        <p:spPr>
          <a:xfrm>
            <a:off x="548640" y="1600200"/>
            <a:ext cx="3840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s-AR" sz="120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 el hiperplano óptimo que maximiza el margen entre clases en un espacio de alta dimensión.</a:t>
            </a:r>
            <a:endParaRPr lang="es-AR" sz="1200" noProof="0" dirty="0"/>
          </a:p>
          <a:p>
            <a:pPr marL="0" indent="0">
              <a:spcAft>
                <a:spcPts val="400"/>
              </a:spcAft>
              <a:buNone/>
            </a:pPr>
            <a:endParaRPr lang="es-AR" sz="1200" noProof="0" dirty="0"/>
          </a:p>
          <a:p>
            <a:pPr marL="0" indent="0">
              <a:spcAft>
                <a:spcPts val="400"/>
              </a:spcAft>
              <a:buNone/>
            </a:pPr>
            <a:r>
              <a:rPr lang="es-AR" sz="1200" b="1" noProof="0" dirty="0">
                <a:solidFill>
                  <a:srgbClr val="1B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Conceptos clave:</a:t>
            </a:r>
            <a:endParaRPr lang="es-AR" sz="1200" noProof="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s-AR" sz="110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Vectores de soporte — puntos más cercanos al hiperplano</a:t>
            </a:r>
            <a:endParaRPr lang="es-AR" sz="1200" noProof="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s-AR" sz="1100" noProof="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</a:t>
            </a:r>
            <a:r>
              <a:rPr lang="es-AR" sz="110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Trick — transforma datos a espacios de mayor dimensión</a:t>
            </a:r>
            <a:endParaRPr lang="es-AR" sz="1200" noProof="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s-AR" sz="1100" noProof="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Kernels</a:t>
            </a:r>
            <a:r>
              <a:rPr lang="es-AR" sz="110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lineal, polinomial, RBF, sigmoide</a:t>
            </a:r>
            <a:endParaRPr lang="es-AR" sz="1200" noProof="0" dirty="0"/>
          </a:p>
        </p:txBody>
      </p:sp>
      <p:sp>
        <p:nvSpPr>
          <p:cNvPr id="7" name="Shape 4"/>
          <p:cNvSpPr/>
          <p:nvPr/>
        </p:nvSpPr>
        <p:spPr>
          <a:xfrm>
            <a:off x="548640" y="3520440"/>
            <a:ext cx="3840480" cy="1623060"/>
          </a:xfrm>
          <a:prstGeom prst="rect">
            <a:avLst/>
          </a:prstGeom>
          <a:solidFill>
            <a:srgbClr val="E8F0FE"/>
          </a:solidFill>
          <a:ln/>
        </p:spPr>
        <p:txBody>
          <a:bodyPr/>
          <a:lstStyle/>
          <a:p>
            <a:endParaRPr lang="es-AR" noProof="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611880"/>
            <a:ext cx="274320" cy="2743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97280" y="36118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AR" sz="1300" b="1" noProof="0" dirty="0" err="1">
                <a:solidFill>
                  <a:srgbClr val="1B365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Hiperparámetros</a:t>
            </a:r>
            <a:r>
              <a:rPr lang="es-AR" sz="1300" b="1" noProof="0" dirty="0">
                <a:solidFill>
                  <a:srgbClr val="1B365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Clave</a:t>
            </a:r>
            <a:endParaRPr lang="es-AR" sz="1300" noProof="0" dirty="0"/>
          </a:p>
        </p:txBody>
      </p:sp>
      <p:sp>
        <p:nvSpPr>
          <p:cNvPr id="10" name="Text 6"/>
          <p:cNvSpPr/>
          <p:nvPr/>
        </p:nvSpPr>
        <p:spPr>
          <a:xfrm>
            <a:off x="731520" y="393192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s-AR" sz="1000" b="1" noProof="0" dirty="0" err="1">
                <a:solidFill>
                  <a:srgbClr val="4682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</a:t>
            </a:r>
            <a:endParaRPr lang="es-AR" sz="1000" noProof="0" dirty="0"/>
          </a:p>
          <a:p>
            <a:pPr marL="0" indent="0">
              <a:spcAft>
                <a:spcPts val="200"/>
              </a:spcAft>
              <a:buNone/>
            </a:pPr>
            <a:r>
              <a:rPr lang="es-AR" sz="100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Función de transformación (linear, </a:t>
            </a:r>
            <a:r>
              <a:rPr lang="es-AR" sz="1000" noProof="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rbf</a:t>
            </a:r>
            <a:r>
              <a:rPr lang="es-AR" sz="100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s-AR" sz="1000" noProof="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</a:t>
            </a:r>
            <a:r>
              <a:rPr lang="es-AR" sz="100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s-AR" sz="1000" noProof="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sigmoid</a:t>
            </a:r>
            <a:r>
              <a:rPr lang="es-AR" sz="100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</a:p>
          <a:p>
            <a:pPr>
              <a:spcAft>
                <a:spcPts val="200"/>
              </a:spcAft>
            </a:pPr>
            <a:r>
              <a:rPr lang="es-AR" sz="1000" b="1" noProof="0" dirty="0">
                <a:solidFill>
                  <a:srgbClr val="4682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(Regularización)</a:t>
            </a:r>
            <a:endParaRPr lang="es-AR" sz="1000" noProof="0" dirty="0"/>
          </a:p>
          <a:p>
            <a:pPr>
              <a:spcAft>
                <a:spcPts val="200"/>
              </a:spcAft>
            </a:pPr>
            <a:r>
              <a:rPr lang="es-AR" sz="100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Balance entre el </a:t>
            </a:r>
            <a:r>
              <a:rPr lang="es-AR" sz="1000" noProof="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márgen</a:t>
            </a:r>
            <a:r>
              <a:rPr lang="es-AR" sz="100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la exactitud</a:t>
            </a:r>
            <a:endParaRPr lang="es-AR" sz="1000" noProof="0" dirty="0"/>
          </a:p>
          <a:p>
            <a:pPr>
              <a:spcAft>
                <a:spcPts val="200"/>
              </a:spcAft>
            </a:pPr>
            <a:r>
              <a:rPr lang="es-AR" sz="1000" b="1" noProof="0" dirty="0">
                <a:solidFill>
                  <a:srgbClr val="4682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gamma</a:t>
            </a:r>
            <a:endParaRPr lang="es-AR" sz="1000" noProof="0" dirty="0"/>
          </a:p>
          <a:p>
            <a:pPr>
              <a:spcAft>
                <a:spcPts val="200"/>
              </a:spcAft>
            </a:pPr>
            <a:r>
              <a:rPr lang="es-AR" sz="100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Alcance de influencia de cada dato al generar el hiperplano (RBF/</a:t>
            </a:r>
            <a:r>
              <a:rPr lang="es-AR" sz="1000" noProof="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</a:t>
            </a:r>
            <a:r>
              <a:rPr lang="es-AR" sz="100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s-AR" sz="1000" noProof="0" dirty="0"/>
          </a:p>
          <a:p>
            <a:pPr marL="0" indent="0">
              <a:spcAft>
                <a:spcPts val="200"/>
              </a:spcAft>
              <a:buNone/>
            </a:pPr>
            <a:endParaRPr lang="es-AR" sz="1000" noProof="0" dirty="0"/>
          </a:p>
        </p:txBody>
      </p:sp>
      <p:pic>
        <p:nvPicPr>
          <p:cNvPr id="11" name="Image 2" descr="/agent/turn1/workspace/images/abstract-geometric-illustration-representing-suppo_2026-05-13T21-08-30_image_DAS_0.jpg"/>
          <p:cNvPicPr>
            <a:picLocks noChangeAspect="1"/>
          </p:cNvPicPr>
          <p:nvPr/>
        </p:nvPicPr>
        <p:blipFill>
          <a:blip r:embed="rId5"/>
          <a:srcRect t="14286" b="14286"/>
          <a:stretch/>
        </p:blipFill>
        <p:spPr>
          <a:xfrm>
            <a:off x="4754880" y="1114980"/>
            <a:ext cx="3840480" cy="1828800"/>
          </a:xfrm>
          <a:prstGeom prst="rect">
            <a:avLst/>
          </a:prstGeom>
        </p:spPr>
      </p:pic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54880" y="3126660"/>
            <a:ext cx="228600" cy="22860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5074920" y="31266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AR" sz="1300" b="1" noProof="0" dirty="0">
                <a:solidFill>
                  <a:srgbClr val="2E7D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Ventajas</a:t>
            </a:r>
            <a:endParaRPr lang="es-AR" sz="1300" noProof="0" dirty="0"/>
          </a:p>
        </p:txBody>
      </p:sp>
      <p:sp>
        <p:nvSpPr>
          <p:cNvPr id="14" name="Text 8"/>
          <p:cNvSpPr/>
          <p:nvPr/>
        </p:nvSpPr>
        <p:spPr>
          <a:xfrm>
            <a:off x="4754880" y="340098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s-AR" sz="100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Efectivo en espacios de alta dimensionalidad</a:t>
            </a:r>
            <a:endParaRPr lang="es-AR" sz="1000" noProof="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s-AR" sz="100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Robusto contra sobreajuste </a:t>
            </a:r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s-AR" sz="100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Permite capturar relaciones no lineales (</a:t>
            </a:r>
            <a:r>
              <a:rPr lang="es-AR" sz="1000" noProof="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</a:t>
            </a:r>
            <a:r>
              <a:rPr lang="es-AR" sz="100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s-AR" sz="1000" noProof="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trick</a:t>
            </a:r>
            <a:r>
              <a:rPr lang="es-AR" sz="100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s-AR" sz="1000" noProof="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54880" y="4086780"/>
            <a:ext cx="228600" cy="22860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5074920" y="40867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AR" sz="1300" b="1" noProof="0" dirty="0">
                <a:solidFill>
                  <a:srgbClr val="C628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Desventajas</a:t>
            </a:r>
            <a:endParaRPr lang="es-AR" sz="1300" noProof="0" dirty="0"/>
          </a:p>
        </p:txBody>
      </p:sp>
      <p:sp>
        <p:nvSpPr>
          <p:cNvPr id="17" name="Text 10"/>
          <p:cNvSpPr/>
          <p:nvPr/>
        </p:nvSpPr>
        <p:spPr>
          <a:xfrm>
            <a:off x="4754880" y="436110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s-AR" sz="100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Baja interpretabilidad </a:t>
            </a:r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s-AR" sz="100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Lento en </a:t>
            </a:r>
            <a:r>
              <a:rPr lang="es-AR" sz="1000" noProof="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datasets</a:t>
            </a:r>
            <a:r>
              <a:rPr lang="es-AR" sz="100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grandes</a:t>
            </a:r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s-AR" sz="100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Requiere normalización y ajustes de los </a:t>
            </a:r>
            <a:r>
              <a:rPr lang="es-AR" sz="1000" noProof="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</a:t>
            </a:r>
            <a:endParaRPr lang="es-AR" sz="1000" noProof="0" dirty="0"/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C318C10F-5FD4-A5CA-2C56-CD8ACD12B21F}"/>
              </a:ext>
            </a:extLst>
          </p:cNvPr>
          <p:cNvSpPr txBox="1"/>
          <p:nvPr/>
        </p:nvSpPr>
        <p:spPr>
          <a:xfrm>
            <a:off x="3576484" y="4866501"/>
            <a:ext cx="55675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AR" sz="1200" dirty="0"/>
              <a:t>Alexandro Orlandi / Aprendizaje Automático / Mayo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365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65760"/>
            <a:ext cx="457200" cy="457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88720" y="3200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AR" sz="3600" b="1" noProof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Conclusiones</a:t>
            </a:r>
            <a:endParaRPr lang="es-AR" sz="3600" noProof="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1356919"/>
              </p:ext>
            </p:extLst>
          </p:nvPr>
        </p:nvGraphicFramePr>
        <p:xfrm>
          <a:off x="548640" y="909975"/>
          <a:ext cx="8046720" cy="2798064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AR" sz="1200" b="1" noProof="0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Criterio</a:t>
                      </a:r>
                      <a:endParaRPr lang="es-AR" sz="1200" noProof="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682B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AR" sz="1200" b="1" noProof="0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Árbol de Decisión</a:t>
                      </a:r>
                      <a:endParaRPr lang="es-AR" sz="1200" noProof="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682B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AR" sz="1200" b="1" noProof="0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SVM</a:t>
                      </a:r>
                      <a:endParaRPr lang="es-AR" sz="1200" noProof="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682B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s-AR" sz="1100" b="1" noProof="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Interpretabilidad</a:t>
                      </a:r>
                      <a:endParaRPr lang="es-AR" sz="11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AR" sz="1100" noProof="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Fácil</a:t>
                      </a:r>
                      <a:endParaRPr lang="es-AR" sz="11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AR" sz="1100" noProof="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Difícil</a:t>
                      </a:r>
                      <a:endParaRPr lang="es-AR" sz="11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s-AR" sz="1100" b="1" noProof="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Datos de alta dimensión</a:t>
                      </a:r>
                      <a:endParaRPr lang="es-AR" sz="11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AR" sz="1100" noProof="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Rendimiento limitado</a:t>
                      </a:r>
                      <a:endParaRPr lang="es-AR" sz="11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AR" sz="1100" noProof="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Excelente rendimiento</a:t>
                      </a:r>
                      <a:endParaRPr lang="es-AR" sz="11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s-AR" sz="1100" b="1" noProof="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Velocidad de entrenamiento</a:t>
                      </a:r>
                      <a:endParaRPr lang="es-AR" sz="11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AR" sz="1100" noProof="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Rápido</a:t>
                      </a:r>
                      <a:endParaRPr lang="es-AR" sz="11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AR" sz="1100" noProof="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Lento</a:t>
                      </a:r>
                      <a:endParaRPr lang="es-AR" sz="11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s-AR" sz="1100" b="1" noProof="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Sobreajuste</a:t>
                      </a:r>
                      <a:endParaRPr lang="es-AR" sz="11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AR" sz="1100" noProof="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Alto riesgo si no se poda</a:t>
                      </a:r>
                      <a:endParaRPr lang="es-AR" sz="11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AR" sz="1100" noProof="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Controlado con </a:t>
                      </a:r>
                      <a:r>
                        <a:rPr lang="es-AR" sz="1100" noProof="0" dirty="0" err="1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hiperparámetros</a:t>
                      </a:r>
                      <a:endParaRPr lang="es-AR" sz="11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s-AR" sz="1100" b="1" noProof="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Preprocesamiento</a:t>
                      </a:r>
                      <a:endParaRPr lang="es-AR" sz="11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AR" sz="1100" noProof="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Mínimo requerido</a:t>
                      </a:r>
                      <a:endParaRPr lang="es-AR" sz="11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AR" sz="1100" noProof="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Normalización necesaria</a:t>
                      </a:r>
                    </a:p>
                  </a:txBody>
                  <a:tcPr anchor="ctr">
                    <a:lnL w="635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s-AR" sz="1100" b="1" noProof="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Robustez</a:t>
                      </a:r>
                      <a:endParaRPr lang="es-AR" sz="11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AR" sz="1100" noProof="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Sensible a pequeños cambios en los datos</a:t>
                      </a:r>
                      <a:endParaRPr lang="es-AR" sz="11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AR" sz="1100" noProof="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Controlado con C, Gamma y </a:t>
                      </a:r>
                      <a:r>
                        <a:rPr lang="es-AR" sz="1100" noProof="0" dirty="0" err="1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Kernel</a:t>
                      </a:r>
                      <a:endParaRPr lang="es-AR" sz="11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668054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sz="1100" b="1" noProof="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Relaciones no lineales</a:t>
                      </a:r>
                      <a:endParaRPr lang="es-AR" sz="11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AR" sz="1100" noProof="0" dirty="0">
                          <a:latin typeface="Calibri" charset="0"/>
                          <a:ea typeface="Calibri" charset="0"/>
                          <a:cs typeface="Calibri" charset="0"/>
                        </a:rPr>
                        <a:t>Captura</a:t>
                      </a:r>
                    </a:p>
                  </a:txBody>
                  <a:tcPr anchor="ctr">
                    <a:lnL w="635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AR" sz="1100" noProof="0" dirty="0">
                          <a:latin typeface="Calibri" charset="0"/>
                          <a:ea typeface="Calibri" charset="0"/>
                          <a:cs typeface="Calibri" charset="0"/>
                        </a:rPr>
                        <a:t>Captura</a:t>
                      </a:r>
                    </a:p>
                  </a:txBody>
                  <a:tcPr anchor="ctr">
                    <a:lnL w="635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723127"/>
                  </a:ext>
                </a:extLst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548640" y="3695269"/>
            <a:ext cx="8046720" cy="1082998"/>
          </a:xfrm>
          <a:prstGeom prst="rect">
            <a:avLst/>
          </a:prstGeom>
          <a:solidFill>
            <a:srgbClr val="152A4A"/>
          </a:solidFill>
          <a:ln/>
        </p:spPr>
        <p:txBody>
          <a:bodyPr/>
          <a:lstStyle/>
          <a:p>
            <a:endParaRPr lang="es-AR" noProof="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3812248"/>
            <a:ext cx="365760" cy="36576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1417320" y="3766528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AR" sz="1600" b="1" noProof="0" dirty="0">
                <a:solidFill>
                  <a:srgbClr val="CADC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Recomendación</a:t>
            </a:r>
            <a:endParaRPr lang="es-AR" sz="1600" noProof="0" dirty="0"/>
          </a:p>
        </p:txBody>
      </p:sp>
      <p:sp>
        <p:nvSpPr>
          <p:cNvPr id="8" name="Text 3"/>
          <p:cNvSpPr/>
          <p:nvPr/>
        </p:nvSpPr>
        <p:spPr>
          <a:xfrm>
            <a:off x="914400" y="4178008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s-AR" sz="1200" b="1" noProof="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Árbol de Decisión</a:t>
            </a:r>
            <a:r>
              <a:rPr lang="es-AR" sz="1200" noProof="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s-AR" sz="12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=&gt; </a:t>
            </a:r>
            <a:r>
              <a:rPr lang="es-AR" sz="1200" noProof="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 se necesita interpretabilidad, </a:t>
            </a:r>
            <a:r>
              <a:rPr lang="es-AR" sz="1200" noProof="0" dirty="0" err="1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explicabilidad</a:t>
            </a:r>
            <a:r>
              <a:rPr lang="es-AR" sz="1200" noProof="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del modelo, y definir reglas claras.</a:t>
            </a:r>
          </a:p>
          <a:p>
            <a:pPr marL="0" indent="0">
              <a:spcAft>
                <a:spcPts val="400"/>
              </a:spcAft>
              <a:buNone/>
            </a:pPr>
            <a:r>
              <a:rPr lang="es-AR" sz="1200" b="1" noProof="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</a:t>
            </a:r>
            <a:r>
              <a:rPr lang="es-AR" sz="1200" noProof="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=&gt; clasificación compleja con datos de alta dimensión y cuando la interpretabilidad no es prioritaria.</a:t>
            </a:r>
            <a:endParaRPr lang="es-AR" sz="1200" noProof="0" dirty="0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DFECE436-A23F-3F91-D889-59293829CA85}"/>
              </a:ext>
            </a:extLst>
          </p:cNvPr>
          <p:cNvSpPr txBox="1"/>
          <p:nvPr/>
        </p:nvSpPr>
        <p:spPr>
          <a:xfrm>
            <a:off x="3576484" y="4866501"/>
            <a:ext cx="55675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AR" sz="1200" dirty="0">
                <a:solidFill>
                  <a:schemeClr val="bg1"/>
                </a:solidFill>
              </a:rPr>
              <a:t>Alexandro Orlandi / Aprendizaje Automático / Mayo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48619F-9EE9-D605-1CD8-450324AEB6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87D239EF-B400-9D91-47CE-91F2985866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7150" y="210514"/>
            <a:ext cx="2880000" cy="2964559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D50F15BA-F512-11DC-09BF-4D47432F87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2064" y="210516"/>
            <a:ext cx="2880000" cy="3148262"/>
          </a:xfrm>
          <a:prstGeom prst="rect">
            <a:avLst/>
          </a:prstGeom>
        </p:spPr>
      </p:pic>
      <p:sp>
        <p:nvSpPr>
          <p:cNvPr id="8" name="Shape 0">
            <a:extLst>
              <a:ext uri="{FF2B5EF4-FFF2-40B4-BE49-F238E27FC236}">
                <a16:creationId xmlns:a16="http://schemas.microsoft.com/office/drawing/2014/main" id="{C23D0E1A-0CD6-2884-D12E-093744021C7A}"/>
              </a:ext>
            </a:extLst>
          </p:cNvPr>
          <p:cNvSpPr/>
          <p:nvPr/>
        </p:nvSpPr>
        <p:spPr>
          <a:xfrm>
            <a:off x="0" y="0"/>
            <a:ext cx="2036956" cy="5143500"/>
          </a:xfrm>
          <a:prstGeom prst="rect">
            <a:avLst/>
          </a:prstGeom>
          <a:solidFill>
            <a:srgbClr val="1B365D"/>
          </a:solidFill>
          <a:ln/>
        </p:spPr>
        <p:txBody>
          <a:bodyPr/>
          <a:lstStyle/>
          <a:p>
            <a:endParaRPr lang="es-AR" sz="3200" b="1" dirty="0">
              <a:solidFill>
                <a:srgbClr val="FFFFFF"/>
              </a:solidFill>
              <a:latin typeface="Trebuchet MS" pitchFamily="34" charset="0"/>
            </a:endParaRPr>
          </a:p>
          <a:p>
            <a:endParaRPr lang="es-AR" sz="3200" b="1" dirty="0">
              <a:solidFill>
                <a:srgbClr val="FFFFFF"/>
              </a:solidFill>
              <a:latin typeface="Trebuchet MS" pitchFamily="34" charset="0"/>
            </a:endParaRPr>
          </a:p>
          <a:p>
            <a:pPr algn="ctr"/>
            <a:r>
              <a:rPr lang="es-AR" b="1" dirty="0" err="1">
                <a:solidFill>
                  <a:srgbClr val="FFFFFF"/>
                </a:solidFill>
                <a:latin typeface="Trebuchet MS" pitchFamily="34" charset="0"/>
              </a:rPr>
              <a:t>hiperparámetros</a:t>
            </a:r>
            <a:endParaRPr lang="es-AR" b="1" dirty="0">
              <a:solidFill>
                <a:srgbClr val="FFFFFF"/>
              </a:solidFill>
              <a:latin typeface="Trebuchet MS" pitchFamily="34" charset="0"/>
            </a:endParaRPr>
          </a:p>
          <a:p>
            <a:pPr algn="ctr"/>
            <a:r>
              <a:rPr lang="es-AR" sz="2000" b="1" dirty="0" err="1">
                <a:solidFill>
                  <a:srgbClr val="FFFFFF"/>
                </a:solidFill>
                <a:latin typeface="Trebuchet MS" pitchFamily="34" charset="0"/>
              </a:rPr>
              <a:t>GridsearchCV</a:t>
            </a:r>
            <a:endParaRPr lang="es-AR" sz="2000" b="1" dirty="0">
              <a:solidFill>
                <a:srgbClr val="FFFFFF"/>
              </a:solidFill>
              <a:latin typeface="Trebuchet MS" pitchFamily="34" charset="0"/>
            </a:endParaRPr>
          </a:p>
          <a:p>
            <a:pPr algn="ctr"/>
            <a:r>
              <a:rPr lang="es-AR" sz="2000" b="1" dirty="0" err="1">
                <a:solidFill>
                  <a:srgbClr val="FFFFFF"/>
                </a:solidFill>
                <a:latin typeface="Trebuchet MS" pitchFamily="34" charset="0"/>
              </a:rPr>
              <a:t>Scoring</a:t>
            </a:r>
            <a:endParaRPr lang="es-AR" sz="1600" b="1" dirty="0">
              <a:solidFill>
                <a:srgbClr val="FFFFFF"/>
              </a:solidFill>
              <a:latin typeface="Trebuchet MS" pitchFamily="34" charset="0"/>
            </a:endParaRPr>
          </a:p>
          <a:p>
            <a:pPr algn="ctr"/>
            <a:r>
              <a:rPr lang="es-AR" sz="2400" b="1" dirty="0">
                <a:solidFill>
                  <a:srgbClr val="FFFFFF"/>
                </a:solidFill>
                <a:latin typeface="Trebuchet MS" pitchFamily="34" charset="0"/>
              </a:rPr>
              <a:t>=‘f1_macro'</a:t>
            </a: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18B062AD-C2BA-8539-6FFC-76AA74CB30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97150" y="3175073"/>
            <a:ext cx="2880000" cy="1815096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E44D391B-B2A1-818C-AB08-6D0C09504A59}"/>
              </a:ext>
            </a:extLst>
          </p:cNvPr>
          <p:cNvSpPr txBox="1"/>
          <p:nvPr/>
        </p:nvSpPr>
        <p:spPr>
          <a:xfrm>
            <a:off x="3576484" y="4866501"/>
            <a:ext cx="55675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AR" sz="1200" dirty="0"/>
              <a:t>Alexandro Orlandi / Aprendizaje Automático / Mayo 2026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AA975A1E-5794-E445-C042-7778464ED649}"/>
              </a:ext>
            </a:extLst>
          </p:cNvPr>
          <p:cNvSpPr txBox="1"/>
          <p:nvPr/>
        </p:nvSpPr>
        <p:spPr>
          <a:xfrm>
            <a:off x="0" y="2949677"/>
            <a:ext cx="203695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 err="1">
                <a:solidFill>
                  <a:schemeClr val="bg1"/>
                </a:solidFill>
              </a:rPr>
              <a:t>Dataset</a:t>
            </a:r>
            <a:r>
              <a:rPr lang="es-AR" dirty="0">
                <a:solidFill>
                  <a:schemeClr val="bg1"/>
                </a:solidFill>
              </a:rPr>
              <a:t> Predicción</a:t>
            </a:r>
          </a:p>
          <a:p>
            <a:pPr algn="ctr"/>
            <a:r>
              <a:rPr lang="es-AR" dirty="0">
                <a:solidFill>
                  <a:schemeClr val="bg1"/>
                </a:solidFill>
              </a:rPr>
              <a:t>de Infartos</a:t>
            </a:r>
          </a:p>
          <a:p>
            <a:pPr algn="ctr"/>
            <a:r>
              <a:rPr lang="es-AR" sz="1400" dirty="0">
                <a:solidFill>
                  <a:schemeClr val="bg1"/>
                </a:solidFill>
              </a:rPr>
              <a:t>Fines médicos</a:t>
            </a:r>
          </a:p>
          <a:p>
            <a:pPr algn="ctr"/>
            <a:r>
              <a:rPr lang="es-AR" sz="1400" dirty="0">
                <a:solidFill>
                  <a:schemeClr val="bg1"/>
                </a:solidFill>
              </a:rPr>
              <a:t>Muy desbalanceado</a:t>
            </a:r>
          </a:p>
        </p:txBody>
      </p:sp>
    </p:spTree>
    <p:extLst>
      <p:ext uri="{BB962C8B-B14F-4D97-AF65-F5344CB8AC3E}">
        <p14:creationId xmlns:p14="http://schemas.microsoft.com/office/powerpoint/2010/main" val="26801083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ACD659A2-048A-64B0-0963-734BED9C22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7150" y="387491"/>
            <a:ext cx="2988000" cy="3155747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934AB7D4-E4EB-A205-E2E5-456A34C52F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97150" y="3543238"/>
            <a:ext cx="2831286" cy="1492860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496EA0A6-1254-72A3-2AF8-0FFE0C54BD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22064" y="387493"/>
            <a:ext cx="2988000" cy="3266320"/>
          </a:xfrm>
          <a:prstGeom prst="rect">
            <a:avLst/>
          </a:prstGeom>
        </p:spPr>
      </p:pic>
      <p:sp>
        <p:nvSpPr>
          <p:cNvPr id="8" name="Shape 0">
            <a:extLst>
              <a:ext uri="{FF2B5EF4-FFF2-40B4-BE49-F238E27FC236}">
                <a16:creationId xmlns:a16="http://schemas.microsoft.com/office/drawing/2014/main" id="{11FE7E79-FCC0-488A-2BEA-B4DF09249527}"/>
              </a:ext>
            </a:extLst>
          </p:cNvPr>
          <p:cNvSpPr/>
          <p:nvPr/>
        </p:nvSpPr>
        <p:spPr>
          <a:xfrm>
            <a:off x="0" y="0"/>
            <a:ext cx="2036956" cy="5143500"/>
          </a:xfrm>
          <a:prstGeom prst="rect">
            <a:avLst/>
          </a:prstGeom>
          <a:solidFill>
            <a:srgbClr val="1B365D"/>
          </a:solidFill>
          <a:ln/>
        </p:spPr>
        <p:txBody>
          <a:bodyPr/>
          <a:lstStyle/>
          <a:p>
            <a:endParaRPr lang="es-AR" sz="3200" b="1" dirty="0">
              <a:solidFill>
                <a:srgbClr val="FFFFFF"/>
              </a:solidFill>
              <a:latin typeface="Trebuchet MS" pitchFamily="34" charset="0"/>
            </a:endParaRPr>
          </a:p>
          <a:p>
            <a:endParaRPr lang="es-AR" sz="3200" b="1" dirty="0">
              <a:solidFill>
                <a:srgbClr val="FFFFFF"/>
              </a:solidFill>
              <a:latin typeface="Trebuchet MS" pitchFamily="34" charset="0"/>
            </a:endParaRPr>
          </a:p>
          <a:p>
            <a:pPr algn="ctr"/>
            <a:r>
              <a:rPr lang="es-AR" b="1" dirty="0" err="1">
                <a:solidFill>
                  <a:srgbClr val="FFFFFF"/>
                </a:solidFill>
                <a:latin typeface="Trebuchet MS" pitchFamily="34" charset="0"/>
              </a:rPr>
              <a:t>Hiperparámetros</a:t>
            </a:r>
            <a:endParaRPr lang="es-AR" b="1" dirty="0">
              <a:solidFill>
                <a:srgbClr val="FFFFFF"/>
              </a:solidFill>
              <a:latin typeface="Trebuchet MS" pitchFamily="34" charset="0"/>
            </a:endParaRPr>
          </a:p>
          <a:p>
            <a:pPr algn="ctr"/>
            <a:r>
              <a:rPr lang="es-AR" sz="2000" b="1" dirty="0" err="1">
                <a:solidFill>
                  <a:srgbClr val="FFFFFF"/>
                </a:solidFill>
                <a:latin typeface="Trebuchet MS" pitchFamily="34" charset="0"/>
              </a:rPr>
              <a:t>GridSearchCV</a:t>
            </a:r>
            <a:endParaRPr lang="es-AR" sz="2000" b="1" dirty="0">
              <a:solidFill>
                <a:srgbClr val="FFFFFF"/>
              </a:solidFill>
              <a:latin typeface="Trebuchet MS" pitchFamily="34" charset="0"/>
            </a:endParaRPr>
          </a:p>
          <a:p>
            <a:pPr algn="ctr"/>
            <a:r>
              <a:rPr lang="es-AR" sz="2000" b="1" dirty="0" err="1">
                <a:solidFill>
                  <a:srgbClr val="FFFFFF"/>
                </a:solidFill>
                <a:latin typeface="Trebuchet MS" pitchFamily="34" charset="0"/>
              </a:rPr>
              <a:t>Scoring</a:t>
            </a:r>
            <a:endParaRPr lang="es-AR" sz="2000" b="1" dirty="0">
              <a:solidFill>
                <a:srgbClr val="FFFFFF"/>
              </a:solidFill>
              <a:latin typeface="Trebuchet MS" pitchFamily="34" charset="0"/>
            </a:endParaRPr>
          </a:p>
          <a:p>
            <a:pPr algn="ctr"/>
            <a:r>
              <a:rPr lang="es-AR" sz="2400" b="1" dirty="0">
                <a:solidFill>
                  <a:srgbClr val="FFFFFF"/>
                </a:solidFill>
                <a:latin typeface="Trebuchet MS" pitchFamily="34" charset="0"/>
              </a:rPr>
              <a:t>='</a:t>
            </a:r>
            <a:r>
              <a:rPr lang="es-AR" sz="2400" b="1" dirty="0" err="1">
                <a:solidFill>
                  <a:srgbClr val="FFFFFF"/>
                </a:solidFill>
                <a:latin typeface="Trebuchet MS" pitchFamily="34" charset="0"/>
              </a:rPr>
              <a:t>recall</a:t>
            </a:r>
            <a:r>
              <a:rPr lang="es-AR" sz="2400" b="1" dirty="0">
                <a:solidFill>
                  <a:srgbClr val="FFFFFF"/>
                </a:solidFill>
                <a:latin typeface="Trebuchet MS" pitchFamily="34" charset="0"/>
              </a:rPr>
              <a:t>'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77F45945-19A0-7518-3A8B-0AE97923EB1E}"/>
              </a:ext>
            </a:extLst>
          </p:cNvPr>
          <p:cNvSpPr txBox="1"/>
          <p:nvPr/>
        </p:nvSpPr>
        <p:spPr>
          <a:xfrm>
            <a:off x="3576484" y="4866501"/>
            <a:ext cx="55675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AR" sz="1200" dirty="0"/>
              <a:t>Alexandro Orlandi / Aprendizaje Automático / Mayo 2026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C06A85A3-0CC2-1339-1B85-036F2E498110}"/>
              </a:ext>
            </a:extLst>
          </p:cNvPr>
          <p:cNvSpPr txBox="1"/>
          <p:nvPr/>
        </p:nvSpPr>
        <p:spPr>
          <a:xfrm>
            <a:off x="0" y="2949677"/>
            <a:ext cx="2036956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 err="1">
                <a:solidFill>
                  <a:schemeClr val="bg1"/>
                </a:solidFill>
              </a:rPr>
              <a:t>Dataset</a:t>
            </a:r>
            <a:r>
              <a:rPr lang="es-AR" dirty="0">
                <a:solidFill>
                  <a:schemeClr val="bg1"/>
                </a:solidFill>
              </a:rPr>
              <a:t> Predicción</a:t>
            </a:r>
          </a:p>
          <a:p>
            <a:pPr algn="ctr"/>
            <a:r>
              <a:rPr lang="es-AR" dirty="0">
                <a:solidFill>
                  <a:schemeClr val="bg1"/>
                </a:solidFill>
              </a:rPr>
              <a:t>de Infartos</a:t>
            </a:r>
          </a:p>
          <a:p>
            <a:pPr algn="ctr"/>
            <a:r>
              <a:rPr lang="es-AR" sz="1400" dirty="0">
                <a:solidFill>
                  <a:schemeClr val="bg1"/>
                </a:solidFill>
              </a:rPr>
              <a:t>Muy desbalanceado</a:t>
            </a:r>
          </a:p>
        </p:txBody>
      </p:sp>
    </p:spTree>
    <p:extLst>
      <p:ext uri="{BB962C8B-B14F-4D97-AF65-F5344CB8AC3E}">
        <p14:creationId xmlns:p14="http://schemas.microsoft.com/office/powerpoint/2010/main" val="11270807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322</TotalTime>
  <Words>438</Words>
  <Application>Microsoft Office PowerPoint</Application>
  <PresentationFormat>Presentación en pantalla (16:9)</PresentationFormat>
  <Paragraphs>102</Paragraphs>
  <Slides>6</Slides>
  <Notes>4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10" baseType="lpstr">
      <vt:lpstr>Arial</vt:lpstr>
      <vt:lpstr>Calibri</vt:lpstr>
      <vt:lpstr>Trebuchet MS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Alexandro Orlandi</dc:creator>
  <cp:lastModifiedBy>Alexandro Orlandi</cp:lastModifiedBy>
  <cp:revision>1</cp:revision>
  <dcterms:created xsi:type="dcterms:W3CDTF">2026-05-13T21:11:27Z</dcterms:created>
  <dcterms:modified xsi:type="dcterms:W3CDTF">2026-05-14T02:33:45Z</dcterms:modified>
</cp:coreProperties>
</file>